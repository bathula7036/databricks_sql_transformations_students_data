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66344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5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DAY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Filtering, Aggregation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Table Management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Cohort · SQL Deep Dive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65760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filtering rows to summarizing and shaping your database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112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53412" y="4434840"/>
            <a:ext cx="2153412" cy="384048"/>
          </a:xfrm>
          <a:prstGeom prst="roundRect">
            <a:avLst>
              <a:gd name="adj" fmla="val 50000"/>
            </a:avLst>
          </a:prstGeom>
          <a:solidFill>
            <a:srgbClr val="11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2153412" y="4434840"/>
            <a:ext cx="2153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07992" y="443484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112B4F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443484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DDL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building blocks every SQL user needs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500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500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192024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2697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IN, BETWEEN, LIKE, IS NULL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950208"/>
            <a:ext cx="731520" cy="73152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50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1920240" y="3813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&amp; Grouping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20240" y="4297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MIN, MAX, AVG · GROUP BY · HAVING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550408"/>
            <a:ext cx="731520" cy="73152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504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1920240" y="5413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Management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920240" y="5897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DROP, TRUNCATE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Day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2331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5" name="Text 3"/>
          <p:cNvSpPr/>
          <p:nvPr/>
        </p:nvSpPr>
        <p:spPr>
          <a:xfrm>
            <a:off x="509000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rows down to exactly what you need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· OR · NOT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and negating conditions in WHERE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returns rows where every condition is true. OR returns rows where at least one condition is true. NOT reverses (negates) a condition.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Table: Employees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3487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6052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97380" y="4160520"/>
            <a:ext cx="13487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7380" y="416052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4160520"/>
            <a:ext cx="13487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16052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94860" y="4160520"/>
            <a:ext cx="13487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4860" y="4160520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44568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44568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97380" y="4544568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7380" y="4544568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Rao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4544568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4544568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4860" y="4544568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4860" y="4544568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28616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928616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97380" y="4928616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97380" y="4928616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Chen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4928616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4928616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94860" y="4928616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4860" y="4928616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312664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312664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97380" y="5312664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97380" y="5312664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 Fox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5312664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5312664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94860" y="5312664"/>
            <a:ext cx="13487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4860" y="5312664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696712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696712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97380" y="5696712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97380" y="5696712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Patel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46120" y="5696712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5696712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94860" y="5696712"/>
            <a:ext cx="1348740" cy="384048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4860" y="5696712"/>
            <a:ext cx="134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63640" y="22860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E2038"/>
          </a:solidFill>
          <a:ln/>
        </p:spPr>
      </p:sp>
      <p:sp>
        <p:nvSpPr>
          <p:cNvPr id="51" name="Shape 49"/>
          <p:cNvSpPr/>
          <p:nvPr/>
        </p:nvSpPr>
        <p:spPr>
          <a:xfrm>
            <a:off x="6428232" y="24231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2" name="Shape 50"/>
          <p:cNvSpPr/>
          <p:nvPr/>
        </p:nvSpPr>
        <p:spPr>
          <a:xfrm>
            <a:off x="6592824" y="24231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3" name="Shape 51"/>
          <p:cNvSpPr/>
          <p:nvPr/>
        </p:nvSpPr>
        <p:spPr>
          <a:xfrm>
            <a:off x="6757416" y="24231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267004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AND: both must be true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= 'IT'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Salary &gt; 60000;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→ only Asha Rao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263640" y="42976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E2038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8232" y="44348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7" name="Shape 55"/>
          <p:cNvSpPr/>
          <p:nvPr/>
        </p:nvSpPr>
        <p:spPr>
          <a:xfrm>
            <a:off x="6592824" y="44348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8" name="Shape 56"/>
          <p:cNvSpPr/>
          <p:nvPr/>
        </p:nvSpPr>
        <p:spPr>
          <a:xfrm>
            <a:off x="6757416" y="44348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59" name="Text 57"/>
          <p:cNvSpPr/>
          <p:nvPr/>
        </p:nvSpPr>
        <p:spPr>
          <a:xfrm>
            <a:off x="6492240" y="468172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OR: at least one true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= 'HR'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Dept = 'Finance';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NOT: reverse a condition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Dept = 'IT';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Filtering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&amp; BETWEEN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against a list, or a range of values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 value matches any value in a given list — a shorthand for chaining multiple OR conditions.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E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4023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4023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" y="4023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702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Dept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IN ('IT', 'HR');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same as: Dept='IT' OR Dept='HR'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 value falls within an inclusive range — the start and end values are both included in the results.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63640" y="3520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886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E203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8232" y="4023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2824" y="4023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57416" y="4023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2702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Salary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BETWEEN 50000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80000;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Filtering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on text with wildcards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a pattern in a text column. % matches any sequence of characters; _ matches exactly one character.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'A%'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Asha, Amanda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32004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'%a'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4343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Asha, Priya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'%an%'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"an"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4343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Sandeep, Amanda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15400" y="32004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5256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'_a%'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3794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letter is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2560" y="4343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Lakshmi, Balu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Query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E2038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57607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57607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2416" y="57607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6007608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Employees WHERE Name LIKE 'A%';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Filtering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NULL &amp; IS NOT NULL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or unknown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a value is missing or unknown — not zero, not an empty string. You can never use = NULL; you must use IS NULL or IS NOT NULL.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Common Beginner Mistake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 = NULL  →  never works, always returns nothing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 IS NULL  →  correct way to find 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0E2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24231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92824" y="24231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57416" y="24231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7004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Employees with no manager assigned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Manager IS NULL;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43891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E203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45262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592824" y="45262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6757416" y="45262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77316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Employees WITH a manager assigned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Manager IS NOT NULL;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Filtering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Filters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queries usually mix several conditions together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IT employees earning 50k–80k, OR anyone named starting with 'S'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109960" cy="1920240"/>
          </a:xfrm>
          <a:prstGeom prst="roundRect">
            <a:avLst>
              <a:gd name="adj" fmla="val 3810"/>
            </a:avLst>
          </a:prstGeom>
          <a:solidFill>
            <a:srgbClr val="0E203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6974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6974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6974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Dept, Salary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(Dept = 'IT' AND Salary BETWEEN 50000 AND 80000)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Name LIKE 'S%';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109960" cy="1463040"/>
          </a:xfrm>
          <a:prstGeom prst="roundRect">
            <a:avLst>
              <a:gd name="adj" fmla="val 5625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Use parentheses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evaluates AND before OR, just like multiplication before addition in math. Always use parentheses ( ) to group conditions so the logic reads exactly the way you intend — don't rely on default order alone.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Filtering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206240" cy="420624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2331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5" name="Text 3"/>
          <p:cNvSpPr/>
          <p:nvPr/>
        </p:nvSpPr>
        <p:spPr>
          <a:xfrm>
            <a:off x="509000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&amp; Grouping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many rows into meaningful summaries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functions that summarize a column into one value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05840"/>
          </a:xfrm>
          <a:prstGeom prst="roundRect">
            <a:avLst>
              <a:gd name="adj" fmla="val 8182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takes many rows as input and returns a single summary value — a count, total, average, minimum, or maximum.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084832" cy="24688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434840"/>
            <a:ext cx="1810512" cy="502920"/>
          </a:xfrm>
          <a:prstGeom prst="roundRect">
            <a:avLst>
              <a:gd name="adj" fmla="val 9091"/>
            </a:avLst>
          </a:prstGeom>
          <a:solidFill>
            <a:srgbClr val="0E20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434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3154680"/>
            <a:ext cx="2084832" cy="24688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SUM()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52928" y="374904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a column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98648" y="4434840"/>
            <a:ext cx="1810512" cy="502920"/>
          </a:xfrm>
          <a:prstGeom prst="roundRect">
            <a:avLst>
              <a:gd name="adj" fmla="val 9091"/>
            </a:avLst>
          </a:prstGeom>
          <a:solidFill>
            <a:srgbClr val="0E2038"/>
          </a:solidFill>
          <a:ln/>
        </p:spPr>
      </p:sp>
      <p:sp>
        <p:nvSpPr>
          <p:cNvPr id="17" name="Text 15"/>
          <p:cNvSpPr/>
          <p:nvPr/>
        </p:nvSpPr>
        <p:spPr>
          <a:xfrm>
            <a:off x="2898648" y="4434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SUM(Salary)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74336" y="3154680"/>
            <a:ext cx="2084832" cy="24688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65776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65776" y="374904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11496" y="4434840"/>
            <a:ext cx="1810512" cy="502920"/>
          </a:xfrm>
          <a:prstGeom prst="roundRect">
            <a:avLst>
              <a:gd name="adj" fmla="val 9091"/>
            </a:avLst>
          </a:prstGeom>
          <a:solidFill>
            <a:srgbClr val="0E2038"/>
          </a:solidFill>
          <a:ln/>
        </p:spPr>
      </p:sp>
      <p:sp>
        <p:nvSpPr>
          <p:cNvPr id="22" name="Text 20"/>
          <p:cNvSpPr/>
          <p:nvPr/>
        </p:nvSpPr>
        <p:spPr>
          <a:xfrm>
            <a:off x="5111496" y="4434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MIN(Salary)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7184" y="3154680"/>
            <a:ext cx="2084832" cy="24688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78624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78624" y="374904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4344" y="4434840"/>
            <a:ext cx="1810512" cy="502920"/>
          </a:xfrm>
          <a:prstGeom prst="roundRect">
            <a:avLst>
              <a:gd name="adj" fmla="val 9091"/>
            </a:avLst>
          </a:prstGeom>
          <a:solidFill>
            <a:srgbClr val="0E2038"/>
          </a:solidFill>
          <a:ln/>
        </p:spPr>
      </p:sp>
      <p:sp>
        <p:nvSpPr>
          <p:cNvPr id="27" name="Text 25"/>
          <p:cNvSpPr/>
          <p:nvPr/>
        </p:nvSpPr>
        <p:spPr>
          <a:xfrm>
            <a:off x="7324344" y="4434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MAX(Salary)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00032" y="3154680"/>
            <a:ext cx="2084832" cy="24688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91472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91472" y="374904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37192" y="4434840"/>
            <a:ext cx="1810512" cy="502920"/>
          </a:xfrm>
          <a:prstGeom prst="roundRect">
            <a:avLst>
              <a:gd name="adj" fmla="val 9091"/>
            </a:avLst>
          </a:prstGeom>
          <a:solidFill>
            <a:srgbClr val="0E2038"/>
          </a:solidFill>
          <a:ln/>
        </p:spPr>
      </p:sp>
      <p:sp>
        <p:nvSpPr>
          <p:cNvPr id="32" name="Text 30"/>
          <p:cNvSpPr/>
          <p:nvPr/>
        </p:nvSpPr>
        <p:spPr>
          <a:xfrm>
            <a:off x="9537192" y="443484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AVG(Salary)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Aggregation &amp; Grouping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rows into groups before aggregating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that share the same value in a column, so an aggregate function is calculated once per group instead of once for the whole table.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0E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4160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4160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" y="4160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074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COUNT(*) AS Headcount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Dept;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— one row per department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2331720"/>
            <a:ext cx="269748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317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0" y="2331720"/>
            <a:ext cx="269748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3317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770632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77063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2770632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77063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209544"/>
            <a:ext cx="2697480" cy="438912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20954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3209544"/>
            <a:ext cx="2697480" cy="438912"/>
          </a:xfrm>
          <a:prstGeom prst="rect">
            <a:avLst/>
          </a:prstGeom>
          <a:solidFill>
            <a:srgbClr val="E7F1F5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320954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64845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484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364845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36484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297680"/>
            <a:ext cx="5394960" cy="1508760"/>
          </a:xfrm>
          <a:prstGeom prst="roundRect">
            <a:avLst>
              <a:gd name="adj" fmla="val 5455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44805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in SELECT that isn't inside an aggregate function must appear in GROUP BY.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Aggregation &amp; Grouping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groups after aggregation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groups based on the result of an aggregate function — used after GROUP BY, the way WHERE is used to filter individual rows before grouping.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individual rows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grouping/aggregation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reference aggregate functions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0E2038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48463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48463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16736" y="48463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0932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AVG(Salary)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40000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groups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grouping/aggregation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reference aggregate functions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7091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0E2038"/>
          </a:solidFill>
          <a:ln/>
        </p:spPr>
      </p:sp>
      <p:sp>
        <p:nvSpPr>
          <p:cNvPr id="20" name="Shape 18"/>
          <p:cNvSpPr/>
          <p:nvPr/>
        </p:nvSpPr>
        <p:spPr>
          <a:xfrm>
            <a:off x="6702552" y="48463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67144" y="48463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031736" y="48463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932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AVG(Salary)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AVG(Salary) &gt; 60000;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Aggregation &amp; Grouping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+ ORDER BY + LIMIT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 to answer a real question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are the top 3 departments by average salary?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109960" cy="2331720"/>
          </a:xfrm>
          <a:prstGeom prst="roundRect">
            <a:avLst>
              <a:gd name="adj" fmla="val 3137"/>
            </a:avLst>
          </a:prstGeom>
          <a:solidFill>
            <a:srgbClr val="0E203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6517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6517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6517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98648"/>
            <a:ext cx="10652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AVG(Salary) AS AvgSalary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8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AvgSalary DESC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8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5138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 BY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4406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rows into one bucket per department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50292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5138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Aggregate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54406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AVG(Salary) is calculated for each bucket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50292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5138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ORDER BY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54406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departments from highest to lowest average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50292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9720" y="51389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54406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top 3 rows of that sorted 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Aggregation &amp; Grouping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206240" cy="420624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112B4F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2331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5" name="Text 3"/>
          <p:cNvSpPr/>
          <p:nvPr/>
        </p:nvSpPr>
        <p:spPr>
          <a:xfrm>
            <a:off x="5090008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Management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modifying the structure of your database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brand-new table and its columns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new table by naming its columns and specifying each column's data type and any constraints (like PRIMARY KEY or NOT NULL).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VARCHAR(n), DECIMAL, DATE are common data types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uniquely identifies each row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means the column can't be left empty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E2038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24231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24231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7416" y="24231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70048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Employees (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EmpID     INT PRIMARY KEY,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VARCHAR(50) NOT NULL,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      VARCHAR(30),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   DECIMAL(10,2),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HireDate  DATE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Table Management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structure of a table that already exists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05840"/>
          </a:xfrm>
          <a:prstGeom prst="roundRect">
            <a:avLst>
              <a:gd name="adj" fmla="val 8182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an existing table's structure — add a column, remove a column, or change a column's data type — without touching the data you already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column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E2038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9319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39319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25296" y="39319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78808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Email VARCHAR(100);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15468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a column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26280" y="37947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E203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90872" y="39319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55464" y="39319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0056" y="39319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4178808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Salary DECIMAL(12,2);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315468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a column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21040" y="37947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E2038"/>
          </a:solidFill>
          <a:ln/>
        </p:spPr>
      </p:sp>
      <p:sp>
        <p:nvSpPr>
          <p:cNvPr id="25" name="Shape 23"/>
          <p:cNvSpPr/>
          <p:nvPr/>
        </p:nvSpPr>
        <p:spPr>
          <a:xfrm>
            <a:off x="8485632" y="39319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8650224" y="39319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814816" y="39319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178808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COLUMN Email;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Table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TABLE vs TRUNCATE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ways to empty or remove a table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9E3E3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🗑️ DROP TABLE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entire table — structure AND data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no longer exists at all afterward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undone; use with real caution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0E203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4480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4480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316736" y="4480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8F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Employees;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table structure is gone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E7F1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103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🧹 TRUNCATE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rows, but keeps the table structure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still exists and is ready to insert into again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deleting rows one by one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434340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0E20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702552" y="44805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67144" y="44805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031736" y="44805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7274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B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Employees;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table is now empty, still exists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Table Management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each of these before we review together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employees in IT or HR earning between 50,000 and 80,000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600200" y="318211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employees whose name contains the letter 'e'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600200" y="427939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employees and average salary per department, showing only departments with more than 1 employee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86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600200" y="5376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CREATE TABLE statement for a Departments table with DeptID, DeptName, and Location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12B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· OR · NOT · IN · BETWEEN · LIKE · IS NULL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12B4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&amp; Grouping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COUNT/SUM/MIN/MAX/AVG · GROUP BY · HAVING · ORDER BY + LIMIT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12B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· ALTER TABLE · DROP TABLE · TRUNCATE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2026-08-03T01:37:30Z</dcterms:created>
  <dcterms:modified xsi:type="dcterms:W3CDTF">2026-08-03T01:37:30Z</dcterms:modified>
</cp:coreProperties>
</file>